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400800"/>
            <a:ext cx="12191695" cy="457200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0" y="2286000"/>
            <a:ext cx="2133295" cy="91440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Sistema Administrativo</a:t>
            </a:r>
          </a:p>
          <a:p>
            <a:pPr algn="ctr">
              <a:defRPr sz="4000" b="1">
                <a:solidFill>
                  <a:srgbClr val="FFCC00"/>
                </a:solidFill>
              </a:defRPr>
            </a:pPr>
            <a:r>
              <a:t>para Centro de Salud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Gestión integral de pacientes, citas, caja y recursos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Equipo: Bryan, Oscar, Percy, J.J.</a:t>
            </a:r>
          </a:p>
          <a:p>
            <a:pPr algn="ctr">
              <a:defRPr sz="1800">
                <a:solidFill>
                  <a:srgbClr val="B4C8E6"/>
                </a:solidFill>
              </a:defRPr>
            </a:pPr>
            <a:r>
              <a:t>Expo Parcial -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Los centros de salud manejan información dispersa: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Papeles para citas y registros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No hay control de pagos ni cierre de caja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Los pacientes esperan mucho por desorganización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No hay trazabilidad de quién hizo cada operación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  <a:r>
              <a:t>**Conclusión:** Necesitamos un sistema que centralice toda la operación administrativa.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Nuestra Solución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Un sistema web interno que integra: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Gestión de pacientes y personal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Programación de citas y atención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Caja con cargos, pagos y cierre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Reportes y auditoría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994C"/>
                </a:solidFill>
              </a:defRPr>
            </a:pPr>
            <a:r>
              <a:t>Beneficios: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Información centralizada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Acceso por roles (recepción, caja, administrador, profesional)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Trazabilidad de operaciones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Cómo Está Construido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660099"/>
                </a:solidFill>
              </a:defRPr>
            </a:pPr>
            <a:r>
              <a:t>Stack: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Frontend: React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Backend: Java Spring Boot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Base de datos: PostgreSQL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Observabilidad: SigNoz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  <a:r>
              <a:t>**Patrón:** Monolito modular con arquitectura hexagonal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Dominio independiente de frameworks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Puertos y adaptadores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Módulos: identidad, administración, citas, caja, reportes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Contexto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6600"/>
                </a:solidFill>
              </a:defRPr>
            </a:pPr>
            <a:r>
              <a:t>Actores: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Recepción/Admisión (REC): pacientes, citas, llegadas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Caja (CAJ): cargos, pagos, cierres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Administrador (ADM): configuración, usuarios, reportes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Profesional de salud (PRO): agenda, atención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  <a:r>
              <a:t>**El paciente NO es usuario** del sistema.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Módulos Implementados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Módulo | Responsable | Funcionalidad 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|--------|-------------|---------------|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Identidad y acceso | Bryan | Login, roles, permisos, auditoría 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Administración | Oscar | Pacientes, profesionales, servicios, consultorios, horarios 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Citas y atención | Percy | Reservas, reprogramaciones, llegadas, atención 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Caja | J.J. | Cargos, pagos, anulaciones, cierre, reportes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Lo Que el Negocio Necesita (P8)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1. **Control de acceso** — Cada rol solo ve lo que necesita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2. **Citas sin conflictos** — Un profesional no puede tener dos citas a la vez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3. **Caja con conciliación** — Al cerrar, el efectivo debe cuadrar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4. **Sin duplicados** — Un paciente no se registra dos veces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5. **Trazabilidad** — Todo queda registrado con quién, cuándo y qué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RF Implementados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**RF-19 a RF-24:** Caja completa (cargos, pagos, saldos, anulaciones, cierre)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**RF-27:** Reporte económico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**RF-04 a RF-10:** Pacientes, profesionales, servicios, consultorios, disponibilidad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**RF-12 a RF-18:** Citas, reprogramaciones, llegadas, atención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Reglas Que el Sistema Aplica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**RN-07:** No se pueden reservar citas que se crucen (mismo paciente, profesional o consultorio)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**RN-13:** Los pagos no pueden exceder el saldo pendiente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**RN-14:** El solicitante de anulación no puede aprobarla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**RN-15:** Una sola caja abierta por cajero; el cierre es inmutable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6 Tendencias Tecnológicas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# | Tendencia | Categoría 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|---|-----------|-----------|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1 | Zero Trust Architecture | Techniques 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2 | Mutation Testing | Techniques 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3 | OpenAI Codex | Tools 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4 | Axe-core | Tools 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5 | SigNoz | Platforms 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6 | React JS | Languages and Frameworks |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  <a:r>
              <a:t>**Distribución:** 2 + 2 + 1 + 1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Zero Trust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  <a:r>
              <a:t>**Qué es:** Verificar cada operación, sin confiar en la red ni en el navegador.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3366"/>
                </a:solidFill>
              </a:defRPr>
            </a:pPr>
            <a:r>
              <a:t>Cómo lo implementamos: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Autenticación por sesión con cookies seguras (HttpOnly, SameSite, Secure)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Autorización por rol Y permiso en cada endpoint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CSRF tokens en operaciones de escritura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Límite de intentos de login (5 en 15 minutos)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El servidor valida todo, no confía en el cliente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Mutation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  <a:r>
              <a:t>**Qué es:** Verificar que las pruebas detectan errores. Se introduce código con errores (mutantes) y se comprueba que las pruebas fallan.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660099"/>
                </a:solidFill>
              </a:defRPr>
            </a:pPr>
            <a:r>
              <a:t>Cómo lo aplicamos: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Pruebas de reglas críticas: superposición de citas, saldos, anulaciones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Si una mutación sobrevive, la prueba es insuficiente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Herramienta: PIT (pendiente de ejecutar)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Herramientas de Desarrollo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0066"/>
                </a:solidFill>
              </a:defRPr>
            </a:pPr>
            <a:r>
              <a:t>OpenAI Codex: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Asistió en la generación de código del módulo de caja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Se usó con revisión humana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Evidencia: commits y documentación en docs/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FF0066"/>
                </a:solidFill>
              </a:defRPr>
            </a:pPr>
            <a:r>
              <a:t>Axe-core: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Detecta problemas de accesibilidad en React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Se integra en el build del frontend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Verifica etiquetas, foco visible, contraste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Plataforma y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BCD4"/>
                </a:solidFill>
              </a:defRPr>
            </a:pPr>
            <a:r>
              <a:t>SigNoz: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Observabilidad: métricas, logs y trazas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Correlación de operaciones de reserva y pago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No bloquea el negocio si se cae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BCD4"/>
                </a:solidFill>
              </a:defRPr>
            </a:pPr>
            <a:r>
              <a:t>React JS: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Interfaz interna para los 4 roles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Componentes reutilizables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Navegación por permisos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Tendencias ↔ Requerimientos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Tendencia | RF-01 a 03 | RF-04 a 10 | RF-12 a 18 | RF-19 a 24 | RF-27 | RNF-01 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|-----------|------------|------------|------------|------------|-------|--------|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Zero Trust | ✓ | ✓ | ✓ | ✓ | ✓ | ✓ 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Mutation Testing | — | ✓ | ✓ | ✓ | ✓ | ✓ 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OpenAI Codex | — | — | ✓ | ✓ | ✓ | — 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Axe-core | — | — | — | — | — | — 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SigNoz | — | — | ✓ | ✓ | ✓ | ✓ |</a:t>
            </a:r>
          </a:p>
          <a:p>
            <a:pPr>
              <a:spcAft>
                <a:spcPts val="800"/>
              </a:spcAft>
              <a:defRPr sz="1400">
                <a:latin typeface="Consolas"/>
              </a:defRPr>
            </a:pPr>
            <a:r>
              <a:t>| React JS | ✓ | ✓ | ✓ | ✓ | ✓ | ✓ |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ADD — Contexto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  <a:r>
              <a:t>**Sistema:** Administración integral de un centro de salud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FF6600"/>
                </a:solidFill>
              </a:defRPr>
            </a:pPr>
            <a:r>
              <a:t>Contenedores: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1. Aplicación web (React)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2. API Spring Boot (monolito modular)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3. PostgreSQL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4. SigNoz (observabilidad)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FF6600"/>
                </a:solidFill>
              </a:defRPr>
            </a:pPr>
            <a:r>
              <a:t>Restricciones: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Sin historia clínica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Sin portal de paciente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Sin facturación electrónica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Una sola sede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ADD — Arquitectura del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  <a:r>
              <a:t>**Patrón:** Monolito modular con arquitectura hexagonal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HTTP (Controladores) → Casos de Uso → Dominio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                                  ↓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                            Puertos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                                  ↓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                       Adaptadores (PostgreSQL, SigNoz)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660099"/>
                </a:solidFill>
              </a:defRPr>
            </a:pPr>
            <a:r>
              <a:t>Decisiones: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DA-01: Monolito modular (transacciones que abarcan módulos)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DA-02: Arquitectura hexagonal (dominio independiente)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DA-04: Una transacción por operación de negocio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DA-05: Movimientos compensatorios, nunca borrado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ADD — Vistas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BCD4"/>
                </a:solidFill>
              </a:defRPr>
            </a:pPr>
            <a:r>
              <a:t>Vista Lógica: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Módulo de Identidad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Módulo de Administración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Módulo de Citas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Módulo de Caja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Módulo de Reportes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BCD4"/>
                </a:solidFill>
              </a:defRPr>
            </a:pPr>
            <a:r>
              <a:t>Vista de Despliegue: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Servidor web → API → PostgreSQL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API → SigNoz (telemetría asíncrona)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Sin estado local en memoria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Demostración en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CC0000"/>
                </a:solidFill>
              </a:defRPr>
            </a:pPr>
            <a:r>
              <a:t>Flujos a mostrar: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1. Login con rol de caja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2. Abrir sesión de caja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3. Registrar cargo por servicio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4. Registrar pago parcial y total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5. Consultar saldo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6. Cerrar caja con conciliación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7. Ver reporte económico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CC0000"/>
                </a:solidFill>
              </a:defRPr>
            </a:pPr>
            <a:r>
              <a:t>Comando para levantar: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docker compose up --build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82880" cy="6583680"/>
          </a:xfrm>
          <a:prstGeom prst="round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731520"/>
          </a:xfrm>
          <a:prstGeom prst="round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994C"/>
                </a:solidFill>
              </a:defRPr>
            </a:pPr>
            <a:r>
              <a:t>Zero Trust: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Garantiza que cada operación está autorizada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Protege datos sensibles del centro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994C"/>
                </a:solidFill>
              </a:defRPr>
            </a:pPr>
            <a:r>
              <a:t>Mutation Testing: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Asegura que las pruebas realmente verifican las reglas críticas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994C"/>
                </a:solidFill>
              </a:defRPr>
            </a:pPr>
            <a:r>
              <a:t>OpenAI Codex: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Acelera el desarrollo con revisión humana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994C"/>
                </a:solidFill>
              </a:defRPr>
            </a:pPr>
            <a:r>
              <a:t>Axe-core: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Garantiza accesibilidad para todo el personal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994C"/>
                </a:solidFill>
              </a:defRPr>
            </a:pPr>
            <a:r>
              <a:t>SigNoz: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Permite diagnosticar problemas sin afectar operaciones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994C"/>
                </a:solidFill>
              </a:defRPr>
            </a:pPr>
            <a:r>
              <a:t>React JS: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► Interfaz moderna y mantenible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400800"/>
            <a:ext cx="12191695" cy="457200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0" y="2743200"/>
            <a:ext cx="2133295" cy="91440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¡Gracias!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DCFF"/>
                </a:solidFill>
              </a:defRPr>
            </a:pPr>
            <a:r>
              <a:t>Preguntas y Respuestas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Equipo: Bryan, Oscar, Percy, J.J.</a:t>
            </a:r>
          </a:p>
          <a:p>
            <a:pPr algn="ctr">
              <a:defRPr sz="1800">
                <a:solidFill>
                  <a:srgbClr val="B4C8E6"/>
                </a:solidFill>
              </a:defRPr>
            </a:pPr>
            <a:r>
              <a:t>Centro de Salud - Expo Parcial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