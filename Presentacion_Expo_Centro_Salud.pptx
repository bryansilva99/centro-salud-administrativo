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Sistema Administrativo para Centro de Salud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Gestión integral de pacientes, citas, caja y recursos</a:t>
            </a:r>
          </a:p>
          <a:p>
            <a:pPr algn="ctr">
              <a:defRPr sz="2000"/>
            </a:pPr>
            <a:r>
              <a:t>Equipo: Bryan, Oscar, Percy, J.J.</a:t>
            </a:r>
          </a:p>
          <a:p>
            <a:pPr algn="ctr">
              <a:defRPr sz="1800"/>
            </a:pPr>
            <a: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Los centros de salud manejan información dispersa:</a:t>
            </a:r>
          </a:p>
          <a:p>
            <a:pPr>
              <a:spcAft>
                <a:spcPts val="600"/>
              </a:spcAft>
              <a:defRPr sz="1800"/>
            </a:pPr>
            <a:r>
              <a:t>  • Papeles para citas y registros</a:t>
            </a:r>
          </a:p>
          <a:p>
            <a:pPr>
              <a:spcAft>
                <a:spcPts val="600"/>
              </a:spcAft>
              <a:defRPr sz="1800"/>
            </a:pPr>
            <a:r>
              <a:t>  • No hay control de pagos ni cierre de caja</a:t>
            </a:r>
          </a:p>
          <a:p>
            <a:pPr>
              <a:spcAft>
                <a:spcPts val="600"/>
              </a:spcAft>
              <a:defRPr sz="1800"/>
            </a:pPr>
            <a:r>
              <a:t>  • Los pacientes esperan mucho por desorganización</a:t>
            </a:r>
          </a:p>
          <a:p>
            <a:pPr>
              <a:spcAft>
                <a:spcPts val="600"/>
              </a:spcAft>
              <a:defRPr sz="1800"/>
            </a:pPr>
            <a:r>
              <a:t>  • No hay trazabilidad de quién hizo cada operación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**Conclusión:** Necesitamos un sistema que centralice toda la operación administrativa.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Nuestra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Un sistema web interno que integra:</a:t>
            </a:r>
          </a:p>
          <a:p>
            <a:pPr>
              <a:spcAft>
                <a:spcPts val="600"/>
              </a:spcAft>
              <a:defRPr sz="1800"/>
            </a:pPr>
            <a:r>
              <a:t>  • Gestión de pacientes y personal</a:t>
            </a:r>
          </a:p>
          <a:p>
            <a:pPr>
              <a:spcAft>
                <a:spcPts val="600"/>
              </a:spcAft>
              <a:defRPr sz="1800"/>
            </a:pPr>
            <a:r>
              <a:t>  • Programación de citas y atención</a:t>
            </a:r>
          </a:p>
          <a:p>
            <a:pPr>
              <a:spcAft>
                <a:spcPts val="600"/>
              </a:spcAft>
              <a:defRPr sz="1800"/>
            </a:pPr>
            <a:r>
              <a:t>  • Caja con cargos, pagos y cierre</a:t>
            </a:r>
          </a:p>
          <a:p>
            <a:pPr>
              <a:spcAft>
                <a:spcPts val="600"/>
              </a:spcAft>
              <a:defRPr sz="1800"/>
            </a:pPr>
            <a:r>
              <a:t>  • Reportes y auditoría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Beneficios:</a:t>
            </a:r>
          </a:p>
          <a:p>
            <a:pPr>
              <a:spcAft>
                <a:spcPts val="600"/>
              </a:spcAft>
              <a:defRPr sz="1800"/>
            </a:pPr>
            <a:r>
              <a:t>  • Información centralizada</a:t>
            </a:r>
          </a:p>
          <a:p>
            <a:pPr>
              <a:spcAft>
                <a:spcPts val="600"/>
              </a:spcAft>
              <a:defRPr sz="1800"/>
            </a:pPr>
            <a:r>
              <a:t>  • Acceso por roles (recepción, caja, administrador, profesional)</a:t>
            </a:r>
          </a:p>
          <a:p>
            <a:pPr>
              <a:spcAft>
                <a:spcPts val="600"/>
              </a:spcAft>
              <a:defRPr sz="1800"/>
            </a:pPr>
            <a:r>
              <a:t>  • Trazabilidad de operaciones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Cómo Está Construido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Stack:</a:t>
            </a:r>
          </a:p>
          <a:p>
            <a:pPr>
              <a:spcAft>
                <a:spcPts val="600"/>
              </a:spcAft>
              <a:defRPr sz="1800"/>
            </a:pPr>
            <a:r>
              <a:t>  • Frontend: React</a:t>
            </a:r>
          </a:p>
          <a:p>
            <a:pPr>
              <a:spcAft>
                <a:spcPts val="600"/>
              </a:spcAft>
              <a:defRPr sz="1800"/>
            </a:pPr>
            <a:r>
              <a:t>  • Backend: Java Spring Boot</a:t>
            </a:r>
          </a:p>
          <a:p>
            <a:pPr>
              <a:spcAft>
                <a:spcPts val="600"/>
              </a:spcAft>
              <a:defRPr sz="1800"/>
            </a:pPr>
            <a:r>
              <a:t>  • Base de datos: PostgreSQL</a:t>
            </a:r>
          </a:p>
          <a:p>
            <a:pPr>
              <a:spcAft>
                <a:spcPts val="600"/>
              </a:spcAft>
              <a:defRPr sz="1800"/>
            </a:pPr>
            <a:r>
              <a:t>  • Observabilidad: SigNoz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**Patrón:** Monolito modular con arquitectura hexagonal</a:t>
            </a:r>
          </a:p>
          <a:p>
            <a:pPr>
              <a:spcAft>
                <a:spcPts val="600"/>
              </a:spcAft>
              <a:defRPr sz="1800"/>
            </a:pPr>
            <a:r>
              <a:t>  • Dominio independiente de frameworks</a:t>
            </a:r>
          </a:p>
          <a:p>
            <a:pPr>
              <a:spcAft>
                <a:spcPts val="600"/>
              </a:spcAft>
              <a:defRPr sz="1800"/>
            </a:pPr>
            <a:r>
              <a:t>  • Puertos y adaptadores</a:t>
            </a:r>
          </a:p>
          <a:p>
            <a:pPr>
              <a:spcAft>
                <a:spcPts val="600"/>
              </a:spcAft>
              <a:defRPr sz="1800"/>
            </a:pPr>
            <a:r>
              <a:t>  • Módulos: identidad, administración, citas, caja, reportes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Contexto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Actores:</a:t>
            </a:r>
          </a:p>
          <a:p>
            <a:pPr>
              <a:spcAft>
                <a:spcPts val="600"/>
              </a:spcAft>
              <a:defRPr sz="1800"/>
            </a:pPr>
            <a:r>
              <a:t>  • Recepción/Admisión (REC): pacientes, citas, llegadas</a:t>
            </a:r>
          </a:p>
          <a:p>
            <a:pPr>
              <a:spcAft>
                <a:spcPts val="600"/>
              </a:spcAft>
              <a:defRPr sz="1800"/>
            </a:pPr>
            <a:r>
              <a:t>  • Caja (CAJ): cargos, pagos, cierres</a:t>
            </a:r>
          </a:p>
          <a:p>
            <a:pPr>
              <a:spcAft>
                <a:spcPts val="600"/>
              </a:spcAft>
              <a:defRPr sz="1800"/>
            </a:pPr>
            <a:r>
              <a:t>  • Administrador (ADM): configuración, usuarios, reportes</a:t>
            </a:r>
          </a:p>
          <a:p>
            <a:pPr>
              <a:spcAft>
                <a:spcPts val="600"/>
              </a:spcAft>
              <a:defRPr sz="1800"/>
            </a:pPr>
            <a:r>
              <a:t>  • Profesional de salud (PRO): agenda, atención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**El paciente NO es usuario**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Módulos Implementados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| Módulo | Responsable | Funcionalidad |</a:t>
            </a:r>
          </a:p>
          <a:p>
            <a:pPr>
              <a:spcAft>
                <a:spcPts val="600"/>
              </a:spcAft>
              <a:defRPr sz="1800"/>
            </a:pPr>
            <a:r>
              <a:t>|--------|-------------|---------------|</a:t>
            </a:r>
          </a:p>
          <a:p>
            <a:pPr>
              <a:spcAft>
                <a:spcPts val="600"/>
              </a:spcAft>
              <a:defRPr sz="1800"/>
            </a:pPr>
            <a:r>
              <a:t>| Identidad y acceso | Bryan | Login, roles, permisos, auditoría |</a:t>
            </a:r>
          </a:p>
          <a:p>
            <a:pPr>
              <a:spcAft>
                <a:spcPts val="600"/>
              </a:spcAft>
              <a:defRPr sz="1800"/>
            </a:pPr>
            <a:r>
              <a:t>| Administración | Oscar | Pacientes, profesionales, servicios, consultorios, horarios |</a:t>
            </a:r>
          </a:p>
          <a:p>
            <a:pPr>
              <a:spcAft>
                <a:spcPts val="600"/>
              </a:spcAft>
              <a:defRPr sz="1800"/>
            </a:pPr>
            <a:r>
              <a:t>| Citas y atención | Percy | Reservas, reprogramaciones, llegadas, atención |</a:t>
            </a:r>
          </a:p>
          <a:p>
            <a:pPr>
              <a:spcAft>
                <a:spcPts val="600"/>
              </a:spcAft>
              <a:defRPr sz="1800"/>
            </a:pPr>
            <a:r>
              <a:t>| Caja | J.J. | Cargos, pagos, anulaciones, cierre, reportes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Lo Que el Negocio Necesita (P8)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1. **Control de acceso** — Cada rol solo ve lo que necesita</a:t>
            </a:r>
          </a:p>
          <a:p>
            <a:pPr>
              <a:spcAft>
                <a:spcPts val="600"/>
              </a:spcAft>
              <a:defRPr sz="1800"/>
            </a:pPr>
            <a:r>
              <a:t>2. **Citas sin conflictos** — Un profesional no puede tener dos citas a la vez</a:t>
            </a:r>
          </a:p>
          <a:p>
            <a:pPr>
              <a:spcAft>
                <a:spcPts val="600"/>
              </a:spcAft>
              <a:defRPr sz="1800"/>
            </a:pPr>
            <a:r>
              <a:t>3. **Caja con conciliación** — Al cerrar, el efectivo debe cuadrar</a:t>
            </a:r>
          </a:p>
          <a:p>
            <a:pPr>
              <a:spcAft>
                <a:spcPts val="600"/>
              </a:spcAft>
              <a:defRPr sz="1800"/>
            </a:pPr>
            <a:r>
              <a:t>4. **Sin duplicados** — Un paciente no se registra dos veces</a:t>
            </a:r>
          </a:p>
          <a:p>
            <a:pPr>
              <a:spcAft>
                <a:spcPts val="600"/>
              </a:spcAft>
              <a:defRPr sz="1800"/>
            </a:pPr>
            <a:r>
              <a:t>5. **Trazabilidad** — Todo queda registrado con quién, cuándo y qué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RF Implementados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  • **RF-19 a RF-24:** Caja completa (cargos, pagos, saldos, anulaciones, cierre)</a:t>
            </a:r>
          </a:p>
          <a:p>
            <a:pPr>
              <a:spcAft>
                <a:spcPts val="600"/>
              </a:spcAft>
              <a:defRPr sz="1800"/>
            </a:pPr>
            <a:r>
              <a:t>  • **RF-27:** Reporte económico</a:t>
            </a:r>
          </a:p>
          <a:p>
            <a:pPr>
              <a:spcAft>
                <a:spcPts val="600"/>
              </a:spcAft>
              <a:defRPr sz="1800"/>
            </a:pPr>
            <a:r>
              <a:t>  • **RF-04 a RF-10:** Pacientes, profesionales, servicios, consultorios, disponibilidad</a:t>
            </a:r>
          </a:p>
          <a:p>
            <a:pPr>
              <a:spcAft>
                <a:spcPts val="600"/>
              </a:spcAft>
              <a:defRPr sz="1800"/>
            </a:pPr>
            <a:r>
              <a:t>  • **RF-12 a RF-18:** Citas, reprogramaciones, llegadas, atención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Reglas Que el Sistema Aplica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  • **RN-07:** No se pueden reservar citas que se crucen (mismo paciente, profesional o consultorio)</a:t>
            </a:r>
          </a:p>
          <a:p>
            <a:pPr>
              <a:spcAft>
                <a:spcPts val="600"/>
              </a:spcAft>
              <a:defRPr sz="1800"/>
            </a:pPr>
            <a:r>
              <a:t>  • **RN-13:** Los pagos no pueden exceder el saldo pendiente</a:t>
            </a:r>
          </a:p>
          <a:p>
            <a:pPr>
              <a:spcAft>
                <a:spcPts val="600"/>
              </a:spcAft>
              <a:defRPr sz="1800"/>
            </a:pPr>
            <a:r>
              <a:t>  • **RN-14:** El solicitante de anulación no puede aprobarla</a:t>
            </a:r>
          </a:p>
          <a:p>
            <a:pPr>
              <a:spcAft>
                <a:spcPts val="600"/>
              </a:spcAft>
              <a:defRPr sz="1800"/>
            </a:pPr>
            <a:r>
              <a:t>  • **RN-15:** Una sola caja abierta por cajero; el cierre es inmutable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6 Tendencias Tecnológicas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| # | Tendencia | Categoría |</a:t>
            </a:r>
          </a:p>
          <a:p>
            <a:pPr>
              <a:spcAft>
                <a:spcPts val="600"/>
              </a:spcAft>
              <a:defRPr sz="1800"/>
            </a:pPr>
            <a:r>
              <a:t>|---|-----------|-----------|</a:t>
            </a:r>
          </a:p>
          <a:p>
            <a:pPr>
              <a:spcAft>
                <a:spcPts val="600"/>
              </a:spcAft>
              <a:defRPr sz="1800"/>
            </a:pPr>
            <a:r>
              <a:t>| 1 | Zero Trust Architecture | Techniques |</a:t>
            </a:r>
          </a:p>
          <a:p>
            <a:pPr>
              <a:spcAft>
                <a:spcPts val="600"/>
              </a:spcAft>
              <a:defRPr sz="1800"/>
            </a:pPr>
            <a:r>
              <a:t>| 2 | Mutation Testing | Techniques |</a:t>
            </a:r>
          </a:p>
          <a:p>
            <a:pPr>
              <a:spcAft>
                <a:spcPts val="600"/>
              </a:spcAft>
              <a:defRPr sz="1800"/>
            </a:pPr>
            <a:r>
              <a:t>| 3 | OpenAI Codex | Tools |</a:t>
            </a:r>
          </a:p>
          <a:p>
            <a:pPr>
              <a:spcAft>
                <a:spcPts val="600"/>
              </a:spcAft>
              <a:defRPr sz="1800"/>
            </a:pPr>
            <a:r>
              <a:t>| 4 | Axe-core | Tools |</a:t>
            </a:r>
          </a:p>
          <a:p>
            <a:pPr>
              <a:spcAft>
                <a:spcPts val="600"/>
              </a:spcAft>
              <a:defRPr sz="1800"/>
            </a:pPr>
            <a:r>
              <a:t>| 5 | SigNoz | Platforms |</a:t>
            </a:r>
          </a:p>
          <a:p>
            <a:pPr>
              <a:spcAft>
                <a:spcPts val="600"/>
              </a:spcAft>
              <a:defRPr sz="1800"/>
            </a:pPr>
            <a:r>
              <a:t>| 6 | React JS | Languages and Frameworks |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**Distribución:** 2 + 2 + 1 + 1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Zero Trust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**Qué es:** Verificar cada operación, sin confiar en la red ni en el navegador.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Cómo lo implementamos:</a:t>
            </a:r>
          </a:p>
          <a:p>
            <a:pPr>
              <a:spcAft>
                <a:spcPts val="600"/>
              </a:spcAft>
              <a:defRPr sz="1800"/>
            </a:pPr>
            <a:r>
              <a:t>  • Autenticación por sesión con cookies seguras (HttpOnly, SameSite, Secure)</a:t>
            </a:r>
          </a:p>
          <a:p>
            <a:pPr>
              <a:spcAft>
                <a:spcPts val="600"/>
              </a:spcAft>
              <a:defRPr sz="1800"/>
            </a:pPr>
            <a:r>
              <a:t>  • Autorización por rol Y permiso en cada endpoint</a:t>
            </a:r>
          </a:p>
          <a:p>
            <a:pPr>
              <a:spcAft>
                <a:spcPts val="600"/>
              </a:spcAft>
              <a:defRPr sz="1800"/>
            </a:pPr>
            <a:r>
              <a:t>  • CSRF tokens en operaciones de escritura</a:t>
            </a:r>
          </a:p>
          <a:p>
            <a:pPr>
              <a:spcAft>
                <a:spcPts val="600"/>
              </a:spcAft>
              <a:defRPr sz="1800"/>
            </a:pPr>
            <a:r>
              <a:t>  • Límite de intentos de login (5 en 15 minutos)</a:t>
            </a:r>
          </a:p>
          <a:p>
            <a:pPr>
              <a:spcAft>
                <a:spcPts val="600"/>
              </a:spcAft>
              <a:defRPr sz="1800"/>
            </a:pPr>
            <a:r>
              <a:t>  • El servidor valida todo, no confía en el cliente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Mutation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**Qué es:** Verificar que las pruebas detectan errores. Se introduce código con errores (mutantes) y se comprueba que las pruebas fallan.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Cómo lo aplicamos:</a:t>
            </a:r>
          </a:p>
          <a:p>
            <a:pPr>
              <a:spcAft>
                <a:spcPts val="600"/>
              </a:spcAft>
              <a:defRPr sz="1800"/>
            </a:pPr>
            <a:r>
              <a:t>  • Pruebas de reglas críticas: superposición de citas, saldos, anulaciones</a:t>
            </a:r>
          </a:p>
          <a:p>
            <a:pPr>
              <a:spcAft>
                <a:spcPts val="600"/>
              </a:spcAft>
              <a:defRPr sz="1800"/>
            </a:pPr>
            <a:r>
              <a:t>  • Si una mutación sobrevive, la prueba es insuficiente</a:t>
            </a:r>
          </a:p>
          <a:p>
            <a:pPr>
              <a:spcAft>
                <a:spcPts val="600"/>
              </a:spcAft>
              <a:defRPr sz="1800"/>
            </a:pPr>
            <a:r>
              <a:t>  • Herramienta: PIT (pendiente de ejecutar)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Herramientas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OpenAI Codex:</a:t>
            </a:r>
          </a:p>
          <a:p>
            <a:pPr>
              <a:spcAft>
                <a:spcPts val="600"/>
              </a:spcAft>
              <a:defRPr sz="1800"/>
            </a:pPr>
            <a:r>
              <a:t>  • Asistió en la generación de código del módulo de caja</a:t>
            </a:r>
          </a:p>
          <a:p>
            <a:pPr>
              <a:spcAft>
                <a:spcPts val="600"/>
              </a:spcAft>
              <a:defRPr sz="1800"/>
            </a:pPr>
            <a:r>
              <a:t>  • Se usó con revisión humana</a:t>
            </a:r>
          </a:p>
          <a:p>
            <a:pPr>
              <a:spcAft>
                <a:spcPts val="600"/>
              </a:spcAft>
              <a:defRPr sz="1800"/>
            </a:pPr>
            <a:r>
              <a:t>  • Evidencia: commits y documentación en docs/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Axe-core:</a:t>
            </a:r>
          </a:p>
          <a:p>
            <a:pPr>
              <a:spcAft>
                <a:spcPts val="600"/>
              </a:spcAft>
              <a:defRPr sz="1800"/>
            </a:pPr>
            <a:r>
              <a:t>  • Detecta problemas de accesibilidad en React</a:t>
            </a:r>
          </a:p>
          <a:p>
            <a:pPr>
              <a:spcAft>
                <a:spcPts val="600"/>
              </a:spcAft>
              <a:defRPr sz="1800"/>
            </a:pPr>
            <a:r>
              <a:t>  • Se integra en el build del frontend</a:t>
            </a:r>
          </a:p>
          <a:p>
            <a:pPr>
              <a:spcAft>
                <a:spcPts val="600"/>
              </a:spcAft>
              <a:defRPr sz="1800"/>
            </a:pPr>
            <a:r>
              <a:t>  • Verifica etiquetas, foco visible, contraste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Plataforma 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SigNoz:</a:t>
            </a:r>
          </a:p>
          <a:p>
            <a:pPr>
              <a:spcAft>
                <a:spcPts val="600"/>
              </a:spcAft>
              <a:defRPr sz="1800"/>
            </a:pPr>
            <a:r>
              <a:t>  • Observabilidad: métricas, logs y trazas</a:t>
            </a:r>
          </a:p>
          <a:p>
            <a:pPr>
              <a:spcAft>
                <a:spcPts val="600"/>
              </a:spcAft>
              <a:defRPr sz="1800"/>
            </a:pPr>
            <a:r>
              <a:t>  • Correlación de operaciones de reserva y pago</a:t>
            </a:r>
          </a:p>
          <a:p>
            <a:pPr>
              <a:spcAft>
                <a:spcPts val="600"/>
              </a:spcAft>
              <a:defRPr sz="1800"/>
            </a:pPr>
            <a:r>
              <a:t>  • No bloquea el negocio si se cae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React JS:</a:t>
            </a:r>
          </a:p>
          <a:p>
            <a:pPr>
              <a:spcAft>
                <a:spcPts val="600"/>
              </a:spcAft>
              <a:defRPr sz="1800"/>
            </a:pPr>
            <a:r>
              <a:t>  • Interfaz interna para los 4 roles</a:t>
            </a:r>
          </a:p>
          <a:p>
            <a:pPr>
              <a:spcAft>
                <a:spcPts val="600"/>
              </a:spcAft>
              <a:defRPr sz="1800"/>
            </a:pPr>
            <a:r>
              <a:t>  • Componentes reutilizables</a:t>
            </a:r>
          </a:p>
          <a:p>
            <a:pPr>
              <a:spcAft>
                <a:spcPts val="600"/>
              </a:spcAft>
              <a:defRPr sz="1800"/>
            </a:pPr>
            <a:r>
              <a:t>  • Navegación por permisos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Tendencias ↔ 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| Tendencia | RF-01 a 03 | RF-04 a 10 | RF-12 a 18 | RF-19 a 24 | RF-27 | RNF-01 |</a:t>
            </a:r>
          </a:p>
          <a:p>
            <a:pPr>
              <a:spcAft>
                <a:spcPts val="600"/>
              </a:spcAft>
              <a:defRPr sz="1800"/>
            </a:pPr>
            <a:r>
              <a:t>|-----------|------------|------------|------------|------------|-------|--------|</a:t>
            </a:r>
          </a:p>
          <a:p>
            <a:pPr>
              <a:spcAft>
                <a:spcPts val="600"/>
              </a:spcAft>
              <a:defRPr sz="1800"/>
            </a:pPr>
            <a:r>
              <a:t>| Zero Trust | ✓ | ✓ | ✓ | ✓ | ✓ | ✓ |</a:t>
            </a:r>
          </a:p>
          <a:p>
            <a:pPr>
              <a:spcAft>
                <a:spcPts val="600"/>
              </a:spcAft>
              <a:defRPr sz="1800"/>
            </a:pPr>
            <a:r>
              <a:t>| Mutation Testing | — | ✓ | ✓ | ✓ | ✓ | ✓ |</a:t>
            </a:r>
          </a:p>
          <a:p>
            <a:pPr>
              <a:spcAft>
                <a:spcPts val="600"/>
              </a:spcAft>
              <a:defRPr sz="1800"/>
            </a:pPr>
            <a:r>
              <a:t>| OpenAI Codex | — | — | ✓ | ✓ | ✓ | — |</a:t>
            </a:r>
          </a:p>
          <a:p>
            <a:pPr>
              <a:spcAft>
                <a:spcPts val="600"/>
              </a:spcAft>
              <a:defRPr sz="1800"/>
            </a:pPr>
            <a:r>
              <a:t>| Axe-core | — | — | — | — | — | — |</a:t>
            </a:r>
          </a:p>
          <a:p>
            <a:pPr>
              <a:spcAft>
                <a:spcPts val="600"/>
              </a:spcAft>
              <a:defRPr sz="1800"/>
            </a:pPr>
            <a:r>
              <a:t>| SigNoz | — | — | ✓ | ✓ | ✓ | ✓ |</a:t>
            </a:r>
          </a:p>
          <a:p>
            <a:pPr>
              <a:spcAft>
                <a:spcPts val="600"/>
              </a:spcAft>
              <a:defRPr sz="1800"/>
            </a:pPr>
            <a:r>
              <a:t>| React JS | ✓ | ✓ | ✓ | ✓ | ✓ | ✓ |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ADD — Contexto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**Sistema:** Administración integral de un centro de salud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Contenedores:</a:t>
            </a:r>
          </a:p>
          <a:p>
            <a:pPr>
              <a:spcAft>
                <a:spcPts val="600"/>
              </a:spcAft>
              <a:defRPr sz="1800"/>
            </a:pPr>
            <a:r>
              <a:t>1. Aplicación web (React)</a:t>
            </a:r>
          </a:p>
          <a:p>
            <a:pPr>
              <a:spcAft>
                <a:spcPts val="600"/>
              </a:spcAft>
              <a:defRPr sz="1800"/>
            </a:pPr>
            <a:r>
              <a:t>2. API Spring Boot (monolito modular)</a:t>
            </a:r>
          </a:p>
          <a:p>
            <a:pPr>
              <a:spcAft>
                <a:spcPts val="600"/>
              </a:spcAft>
              <a:defRPr sz="1800"/>
            </a:pPr>
            <a:r>
              <a:t>3. PostgreSQL</a:t>
            </a:r>
          </a:p>
          <a:p>
            <a:pPr>
              <a:spcAft>
                <a:spcPts val="600"/>
              </a:spcAft>
              <a:defRPr sz="1800"/>
            </a:pPr>
            <a:r>
              <a:t>4. SigNoz (observabilidad)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Restricciones:</a:t>
            </a:r>
          </a:p>
          <a:p>
            <a:pPr>
              <a:spcAft>
                <a:spcPts val="600"/>
              </a:spcAft>
              <a:defRPr sz="1800"/>
            </a:pPr>
            <a:r>
              <a:t>  • Sin historia clínica</a:t>
            </a:r>
          </a:p>
          <a:p>
            <a:pPr>
              <a:spcAft>
                <a:spcPts val="600"/>
              </a:spcAft>
              <a:defRPr sz="1800"/>
            </a:pPr>
            <a:r>
              <a:t>  • Sin portal de paciente</a:t>
            </a:r>
          </a:p>
          <a:p>
            <a:pPr>
              <a:spcAft>
                <a:spcPts val="600"/>
              </a:spcAft>
              <a:defRPr sz="1800"/>
            </a:pPr>
            <a:r>
              <a:t>  • Sin facturación electrónica</a:t>
            </a:r>
          </a:p>
          <a:p>
            <a:pPr>
              <a:spcAft>
                <a:spcPts val="600"/>
              </a:spcAft>
              <a:defRPr sz="1800"/>
            </a:pPr>
            <a:r>
              <a:t>  • Una sola sede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ADD — Arquitectura del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**Patrón:** Monolito modular con arquitectura hexagonal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HTTP (Controladores) → Casos de Uso → Dominio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              ↓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        Puertos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              ↓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    Adaptadores (PostgreSQL, SigNoz)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Decisiones:</a:t>
            </a:r>
          </a:p>
          <a:p>
            <a:pPr>
              <a:spcAft>
                <a:spcPts val="600"/>
              </a:spcAft>
              <a:defRPr sz="1800"/>
            </a:pPr>
            <a:r>
              <a:t>  • DA-01: Monolito modular (transacciones que abarcan módulos)</a:t>
            </a:r>
          </a:p>
          <a:p>
            <a:pPr>
              <a:spcAft>
                <a:spcPts val="600"/>
              </a:spcAft>
              <a:defRPr sz="1800"/>
            </a:pPr>
            <a:r>
              <a:t>  • DA-02: Arquitectura hexagonal (dominio independiente)</a:t>
            </a:r>
          </a:p>
          <a:p>
            <a:pPr>
              <a:spcAft>
                <a:spcPts val="600"/>
              </a:spcAft>
              <a:defRPr sz="1800"/>
            </a:pPr>
            <a:r>
              <a:t>  • DA-04: Una transacción por operación de negocio</a:t>
            </a:r>
          </a:p>
          <a:p>
            <a:pPr>
              <a:spcAft>
                <a:spcPts val="600"/>
              </a:spcAft>
              <a:defRPr sz="1800"/>
            </a:pPr>
            <a:r>
              <a:t>  • DA-05: Movimientos compensatorios, nunca borrado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ADD — Vistas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Vista Lógica:</a:t>
            </a:r>
          </a:p>
          <a:p>
            <a:pPr>
              <a:spcAft>
                <a:spcPts val="600"/>
              </a:spcAft>
              <a:defRPr sz="1800"/>
            </a:pPr>
            <a:r>
              <a:t>  • Módulo de Identidad</a:t>
            </a:r>
          </a:p>
          <a:p>
            <a:pPr>
              <a:spcAft>
                <a:spcPts val="600"/>
              </a:spcAft>
              <a:defRPr sz="1800"/>
            </a:pPr>
            <a:r>
              <a:t>  • Módulo de Administración</a:t>
            </a:r>
          </a:p>
          <a:p>
            <a:pPr>
              <a:spcAft>
                <a:spcPts val="600"/>
              </a:spcAft>
              <a:defRPr sz="1800"/>
            </a:pPr>
            <a:r>
              <a:t>  • Módulo de Citas</a:t>
            </a:r>
          </a:p>
          <a:p>
            <a:pPr>
              <a:spcAft>
                <a:spcPts val="600"/>
              </a:spcAft>
              <a:defRPr sz="1800"/>
            </a:pPr>
            <a:r>
              <a:t>  • Módulo de Caja</a:t>
            </a:r>
          </a:p>
          <a:p>
            <a:pPr>
              <a:spcAft>
                <a:spcPts val="600"/>
              </a:spcAft>
              <a:defRPr sz="1800"/>
            </a:pPr>
            <a:r>
              <a:t>  • Módulo de Reportes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Vista de Despliegue:</a:t>
            </a:r>
          </a:p>
          <a:p>
            <a:pPr>
              <a:spcAft>
                <a:spcPts val="600"/>
              </a:spcAft>
              <a:defRPr sz="1800"/>
            </a:pPr>
            <a:r>
              <a:t>  • Servidor web → API → PostgreSQL</a:t>
            </a:r>
          </a:p>
          <a:p>
            <a:pPr>
              <a:spcAft>
                <a:spcPts val="600"/>
              </a:spcAft>
              <a:defRPr sz="1800"/>
            </a:pPr>
            <a:r>
              <a:t>  • API → SigNoz (telemetría asíncrona)</a:t>
            </a:r>
          </a:p>
          <a:p>
            <a:pPr>
              <a:spcAft>
                <a:spcPts val="600"/>
              </a:spcAft>
              <a:defRPr sz="1800"/>
            </a:pPr>
            <a:r>
              <a:t>  • Sin estado local en memoria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Demostración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Flujos a mostrar:</a:t>
            </a:r>
          </a:p>
          <a:p>
            <a:pPr>
              <a:spcAft>
                <a:spcPts val="600"/>
              </a:spcAft>
              <a:defRPr sz="1800"/>
            </a:pPr>
            <a:r>
              <a:t>1. Login con rol de caja</a:t>
            </a:r>
          </a:p>
          <a:p>
            <a:pPr>
              <a:spcAft>
                <a:spcPts val="600"/>
              </a:spcAft>
              <a:defRPr sz="1800"/>
            </a:pPr>
            <a:r>
              <a:t>2. Abrir sesión de caja</a:t>
            </a:r>
          </a:p>
          <a:p>
            <a:pPr>
              <a:spcAft>
                <a:spcPts val="600"/>
              </a:spcAft>
              <a:defRPr sz="1800"/>
            </a:pPr>
            <a:r>
              <a:t>3. Registrar cargo por servicio</a:t>
            </a:r>
          </a:p>
          <a:p>
            <a:pPr>
              <a:spcAft>
                <a:spcPts val="600"/>
              </a:spcAft>
              <a:defRPr sz="1800"/>
            </a:pPr>
            <a:r>
              <a:t>4. Registrar pago parcial y total</a:t>
            </a:r>
          </a:p>
          <a:p>
            <a:pPr>
              <a:spcAft>
                <a:spcPts val="600"/>
              </a:spcAft>
              <a:defRPr sz="1800"/>
            </a:pPr>
            <a:r>
              <a:t>5. Consultar saldo</a:t>
            </a:r>
          </a:p>
          <a:p>
            <a:pPr>
              <a:spcAft>
                <a:spcPts val="600"/>
              </a:spcAft>
              <a:defRPr sz="1800"/>
            </a:pPr>
            <a:r>
              <a:t>6. Cerrar caja con conciliación</a:t>
            </a:r>
          </a:p>
          <a:p>
            <a:pPr>
              <a:spcAft>
                <a:spcPts val="600"/>
              </a:spcAft>
              <a:defRPr sz="1800"/>
            </a:pPr>
            <a:r>
              <a:t>7. Ver reporte económico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Comando para levantar:</a:t>
            </a:r>
          </a:p>
          <a:p>
            <a:pPr>
              <a:spcAft>
                <a:spcPts val="600"/>
              </a:spcAft>
              <a:defRPr sz="1800"/>
            </a:pPr>
            <a:r>
              <a:t>docker compose up --build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Zero Trust:</a:t>
            </a:r>
          </a:p>
          <a:p>
            <a:pPr>
              <a:spcAft>
                <a:spcPts val="600"/>
              </a:spcAft>
              <a:defRPr sz="1800"/>
            </a:pPr>
            <a:r>
              <a:t>  • Garantiza que cada operación está autorizada</a:t>
            </a:r>
          </a:p>
          <a:p>
            <a:pPr>
              <a:spcAft>
                <a:spcPts val="600"/>
              </a:spcAft>
              <a:defRPr sz="1800"/>
            </a:pPr>
            <a:r>
              <a:t>  • Protege datos sensibles del centro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Mutation Testing:</a:t>
            </a:r>
          </a:p>
          <a:p>
            <a:pPr>
              <a:spcAft>
                <a:spcPts val="600"/>
              </a:spcAft>
              <a:defRPr sz="1800"/>
            </a:pPr>
            <a:r>
              <a:t>  • Asegura que las pruebas realmente verifican las reglas críticas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OpenAI Codex:</a:t>
            </a:r>
          </a:p>
          <a:p>
            <a:pPr>
              <a:spcAft>
                <a:spcPts val="600"/>
              </a:spcAft>
              <a:defRPr sz="1800"/>
            </a:pPr>
            <a:r>
              <a:t>  • Acelera el desarrollo con revisión humana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Axe-core:</a:t>
            </a:r>
          </a:p>
          <a:p>
            <a:pPr>
              <a:spcAft>
                <a:spcPts val="600"/>
              </a:spcAft>
              <a:defRPr sz="1800"/>
            </a:pPr>
            <a:r>
              <a:t>  • Garantiza accesibilidad para todo el personal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SigNoz:</a:t>
            </a:r>
          </a:p>
          <a:p>
            <a:pPr>
              <a:spcAft>
                <a:spcPts val="600"/>
              </a:spcAft>
              <a:defRPr sz="1800"/>
            </a:pPr>
            <a:r>
              <a:t>  • Permite diagnosticar problemas sin afectar operaciones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 b="1"/>
            </a:pPr>
            <a:r>
              <a:t>React JS:</a:t>
            </a:r>
          </a:p>
          <a:p>
            <a:pPr>
              <a:spcAft>
                <a:spcPts val="600"/>
              </a:spcAft>
              <a:defRPr sz="1800"/>
            </a:pPr>
            <a:r>
              <a:t>  • Interfaz moderna y mantenible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Preguntas y Respuestas</a:t>
            </a:r>
          </a:p>
          <a:p>
            <a:pPr algn="ctr">
              <a:defRPr sz="2000"/>
            </a:pPr>
            <a:r>
              <a:t>Equipo: Bryan, Oscar, Percy, J.J.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